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6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7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71" r:id="rId2"/>
    <p:sldId id="274" r:id="rId3"/>
    <p:sldId id="270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73" r:id="rId12"/>
    <p:sldId id="266" r:id="rId13"/>
    <p:sldId id="267" r:id="rId14"/>
    <p:sldId id="275" r:id="rId15"/>
    <p:sldId id="277" r:id="rId16"/>
    <p:sldId id="291" r:id="rId17"/>
    <p:sldId id="292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3" r:id="rId27"/>
    <p:sldId id="294" r:id="rId28"/>
    <p:sldId id="256" r:id="rId29"/>
    <p:sldId id="257" r:id="rId30"/>
    <p:sldId id="343" r:id="rId31"/>
    <p:sldId id="322" r:id="rId32"/>
    <p:sldId id="344" r:id="rId33"/>
    <p:sldId id="345" r:id="rId34"/>
    <p:sldId id="346" r:id="rId35"/>
    <p:sldId id="347" r:id="rId36"/>
    <p:sldId id="348" r:id="rId37"/>
    <p:sldId id="349" r:id="rId38"/>
    <p:sldId id="351" r:id="rId39"/>
    <p:sldId id="350" r:id="rId40"/>
    <p:sldId id="352" r:id="rId41"/>
    <p:sldId id="353" r:id="rId4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6:20.0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0,'452'0,"-427"0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6:22.3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0,'5'0,"6"0,7 0,4 0,4 0,1 0,2 0,1 0,-1 0,1 0,-1 0,-1 0,1 0,-1 0,0 0,0 0,-4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6:24.2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1,'1271'0,"-1247"0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6:26.0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0,'1130'0,"-1106"0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7:59.46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2,'115'-1,"132"3,-210 1,0 2,0 2,-1 1,0 2,44 18,-54-17,2-1,-1-2,1 0,0-2,30 3,-35-8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8:02.44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1,'4'0,"17"0,19 0,11 0,13 0,9 0,7 0,8 0,5 0,0 0,-11 0,-14 0,-14 0,-12 0,-3 0,-3 0,-3 0,-8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8:16.33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1,'0'1,"1"0,-1 0,0-1,1 1,-1 0,1 0,-1 0,1-1,0 1,-1 0,1-1,0 1,-1 0,1-1,0 1,0-1,0 1,-1-1,1 0,0 1,0-1,0 0,0 0,1 1,27 5,-25-5,56 5,1-2,86-6,-40 0,32 2,-115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3:38:19.56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0,'2794'57'0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7:59.46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2,'115'-1,"132"3,-210 1,0 2,0 2,-1 1,0 2,44 18,-54-17,2-1,-1-2,1 0,0-2,30 3,-35-8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8:02.44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1,'4'0,"17"0,19 0,11 0,13 0,9 0,7 0,8 0,5 0,0 0,-11 0,-14 0,-14 0,-12 0,-3 0,-3 0,-3 0,-8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8:16.33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1,'0'1,"1"0,-1 0,0-1,1 1,-1 0,1 0,-1 0,1-1,0 1,-1 0,1-1,0 1,-1 0,1-1,0 1,0-1,0 1,-1-1,1 0,0 1,0-1,0 0,0 0,1 1,27 5,-25-5,56 5,1-2,86-6,-40 0,32 2,-115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3:38:19.56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0,'2794'57'0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7:59.46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2,'115'-1,"132"3,-210 1,0 2,0 2,-1 1,0 2,44 18,-54-17,2-1,-1-2,1 0,0-2,30 3,-35-8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8:02.44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1,'4'0,"17"0,19 0,11 0,13 0,9 0,7 0,8 0,5 0,0 0,-11 0,-14 0,-14 0,-12 0,-3 0,-3 0,-3 0,-8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8:16.33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1,'0'1,"1"0,-1 0,0-1,1 1,-1 0,1 0,-1 0,1-1,0 1,-1 0,1-1,0 1,-1 0,1-1,0 1,0-1,0 1,-1-1,1 0,0 1,0-1,0 0,0 0,1 1,27 5,-25-5,56 5,1-2,86-6,-40 0,32 2,-115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3:38:19.56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0,'2794'57'0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7:59.46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2,'115'-1,"132"3,-210 1,0 2,0 2,-1 1,0 2,44 18,-54-17,2-1,-1-2,1 0,0-2,30 3,-35-8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8:02.44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1,'4'0,"17"0,19 0,11 0,13 0,9 0,7 0,8 0,5 0,0 0,-11 0,-14 0,-14 0,-12 0,-3 0,-3 0,-3 0,-8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5T13:38:16.33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1,'0'1,"1"0,-1 0,0-1,1 1,-1 0,1 0,-1 0,1-1,0 1,-1 0,1-1,0 1,-1 0,1-1,0 1,0-1,0 1,-1-1,1 0,0 1,0-1,0 0,0 0,1 1,27 5,-25-5,56 5,1-2,86-6,-40 0,32 2,-115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3:38:19.56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0,'2794'57'0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9FD97-101A-4889-B180-7D6A8E5D3742}" type="datetimeFigureOut">
              <a:rPr lang="en-IL" smtClean="0"/>
              <a:t>15/04/2026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EB516-9DF8-48FF-A721-15CD540A058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90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4C9593-C317-445E-8EA1-13B264B0B5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65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4C9593-C317-445E-8EA1-13B264B0B5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830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4C9593-C317-445E-8EA1-13B264B0B5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46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4C9593-C317-445E-8EA1-13B264B0B5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914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EB516-9DF8-48FF-A721-15CD540A058D}" type="slidenum">
              <a:rPr lang="en-IL" smtClean="0"/>
              <a:t>37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9485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09BB4-C187-9315-74D0-2B427BB63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4D6B0-E2CE-CF91-6BBB-4A2DE8B6F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B249E-5AA5-E625-71AB-58B573964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0BC26-7F0D-AC22-25F0-5DC6AABAF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EB516-9DF8-48FF-A721-15CD540A058D}" type="slidenum">
              <a:rPr lang="en-IL" smtClean="0"/>
              <a:t>38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08142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DD9E6-F990-E4A1-2EFA-0EC71EAB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7196D-3001-24E3-7085-1AA447C77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2F934-4632-1FEE-3D85-1D1D2FF94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69D16-A3A2-D7CD-4BA0-1B51FAAE3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EB516-9DF8-48FF-A721-15CD540A058D}" type="slidenum">
              <a:rPr lang="en-IL" smtClean="0"/>
              <a:t>39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45021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58DA-BBB3-C3FC-496B-4AA6F1ED6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67A0F1-AFA4-9F78-92C5-5109BA83C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6FD8F-DDD8-4E7C-713E-95C9637F6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9888-C785-46E4-8EB6-EC12B1E0102F}" type="datetimeFigureOut">
              <a:rPr lang="en-IL" smtClean="0"/>
              <a:t>15/04/2026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E8CBF-D4C3-8F81-7C35-8162B36CD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98024-85C2-E2A2-5EA3-CC31F6CE7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A19C-DD5A-4D0D-B4D7-0999BBA103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000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5954-71A5-1A57-40C7-A2A7ED91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A7F6D-B929-0131-C0C2-54195BC8E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1B16F-8522-808C-89AE-B7E1953B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9888-C785-46E4-8EB6-EC12B1E0102F}" type="datetimeFigureOut">
              <a:rPr lang="en-IL" smtClean="0"/>
              <a:t>15/04/2026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066C0-3986-220F-3DE0-C00BE96F3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434B7-A735-68E8-EBCB-B0E99D73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A19C-DD5A-4D0D-B4D7-0999BBA103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134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E11EA-6938-B7C1-802F-952BBB00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7E10D-8677-2AB7-5F49-AA3F70D74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202A9-1362-527D-3F3E-9125352F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9888-C785-46E4-8EB6-EC12B1E0102F}" type="datetimeFigureOut">
              <a:rPr lang="en-IL" smtClean="0"/>
              <a:t>15/04/2026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954EC-FB74-BDD8-DF16-638D07419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EA5AC-BB96-65DD-993A-71D93ACB4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A19C-DD5A-4D0D-B4D7-0999BBA103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8750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B5683-F911-ADBF-B296-745D2ED3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2637A-F339-1225-F924-0D962DCF4A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8EA2C-F99C-CCBC-F72B-A9E05D543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0BB69-A49A-846E-5AED-06FC1FC91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9888-C785-46E4-8EB6-EC12B1E0102F}" type="datetimeFigureOut">
              <a:rPr lang="en-IL" smtClean="0"/>
              <a:t>15/04/2026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424F8-AE0D-B931-6FB0-CC1E28B0D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7F7D8-C574-C8A7-B174-844753C71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A19C-DD5A-4D0D-B4D7-0999BBA103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2496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7F61-26B0-594F-98AE-FEA47345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1187E-DBAD-D011-DE28-2A117236E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5825A-B243-38E1-C31B-3A4062552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63F6A-0C3E-5921-636F-B807E35B9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820F16-D837-B00C-5C20-5624710026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233D0-2801-F93F-76A7-FFC7D9784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9888-C785-46E4-8EB6-EC12B1E0102F}" type="datetimeFigureOut">
              <a:rPr lang="en-IL" smtClean="0"/>
              <a:t>15/04/2026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8040F-E38C-6813-3E3B-F43C60F3B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ACB820-A2F3-E82B-20B2-07FA858E6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A19C-DD5A-4D0D-B4D7-0999BBA103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92247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E4B8-2840-5B4A-E004-A4A1E907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D1A8DA-3293-A4F6-976B-C3D16B86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9888-C785-46E4-8EB6-EC12B1E0102F}" type="datetimeFigureOut">
              <a:rPr lang="en-IL" smtClean="0"/>
              <a:t>15/04/2026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C6D7E0-B21C-0813-FB35-D7A81B005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88AB5-2BC2-1571-F82A-F5974058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A19C-DD5A-4D0D-B4D7-0999BBA103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3447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6383EA-D920-381D-8466-03D0A7329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9888-C785-46E4-8EB6-EC12B1E0102F}" type="datetimeFigureOut">
              <a:rPr lang="en-IL" smtClean="0"/>
              <a:t>15/04/2026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0BC9AA-8667-5A78-2D76-CCE3231D9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B93C1-8E5E-74D5-26E3-6AD6B705C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A19C-DD5A-4D0D-B4D7-0999BBA103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30021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90702-C00B-CA18-2E67-6B55FDCF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DE33A-5FB2-4467-D816-A9AD4075C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DC0B6-BBCB-37E4-C47F-87D94A0B9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F1309-B093-6D0C-B24A-67707E75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9888-C785-46E4-8EB6-EC12B1E0102F}" type="datetimeFigureOut">
              <a:rPr lang="en-IL" smtClean="0"/>
              <a:t>15/04/2026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11433-83BD-1861-161C-F18C8061A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3F376-A759-0C6C-E46E-7145AD27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A19C-DD5A-4D0D-B4D7-0999BBA103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282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69D0-07CF-D445-C13F-5D7F9E05B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C82556-4EF1-87CD-006C-798CD0CDAC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CC258-0DDF-7C32-EEF6-8D63ADC0D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3E4B4-7A15-83E3-E33A-980F2BF8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9888-C785-46E4-8EB6-EC12B1E0102F}" type="datetimeFigureOut">
              <a:rPr lang="en-IL" smtClean="0"/>
              <a:t>15/04/2026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D6A3B-1DEF-1E13-16DD-233D30CEA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CD680-193A-E60A-97C8-A56A2BD7C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A19C-DD5A-4D0D-B4D7-0999BBA103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2856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9D6D9-B64B-F839-2F47-7D26036B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D312E-9B24-9D7A-F4CE-548B72542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A172C-149B-4448-3823-18E8EBBFA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9888-C785-46E4-8EB6-EC12B1E0102F}" type="datetimeFigureOut">
              <a:rPr lang="en-IL" smtClean="0"/>
              <a:t>15/04/2026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A05E1-E375-D3FF-986F-D7AABA939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12550-2CF1-1FBF-83F7-5DA37F80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A19C-DD5A-4D0D-B4D7-0999BBA103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7712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E0BCCB-2200-C594-2A30-EBF0F61B3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AB679-07A5-38FC-F671-FC1638C64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5EE9-D0C2-F71F-5F90-1CCE35285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9888-C785-46E4-8EB6-EC12B1E0102F}" type="datetimeFigureOut">
              <a:rPr lang="en-IL" smtClean="0"/>
              <a:t>15/04/2026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FE7EA-2606-8D76-6BA3-8780A1314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F861-0F14-91AC-012F-3944A9AE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A19C-DD5A-4D0D-B4D7-0999BBA103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803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B70E7-9E50-6BFB-422E-3D97B6966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3912F-759D-5D93-C1A6-042CB6C2C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DBD16-A614-C591-F495-227F74D57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49888-C785-46E4-8EB6-EC12B1E0102F}" type="datetimeFigureOut">
              <a:rPr lang="en-IL" smtClean="0"/>
              <a:t>15/04/2026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0E8FE-EF42-EF4F-1E81-FE081CE6E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52F64-F624-543E-578B-E4C407B73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EA19C-DD5A-4D0D-B4D7-0999BBA103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796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osf.io/eyzaq/files/osfstorage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2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6.xml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customXml" Target="../ink/ink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27.png"/><Relationship Id="rId5" Type="http://schemas.openxmlformats.org/officeDocument/2006/relationships/image" Target="../media/image29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../media/image27.png"/><Relationship Id="rId5" Type="http://schemas.openxmlformats.org/officeDocument/2006/relationships/image" Target="../media/image29.png"/><Relationship Id="rId10" Type="http://schemas.openxmlformats.org/officeDocument/2006/relationships/customXml" Target="../ink/ink16.xml"/><Relationship Id="rId4" Type="http://schemas.openxmlformats.org/officeDocument/2006/relationships/customXml" Target="../ink/ink13.xml"/><Relationship Id="rId9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1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11" Type="http://schemas.openxmlformats.org/officeDocument/2006/relationships/image" Target="../media/image27.png"/><Relationship Id="rId5" Type="http://schemas.openxmlformats.org/officeDocument/2006/relationships/image" Target="../media/image29.png"/><Relationship Id="rId10" Type="http://schemas.openxmlformats.org/officeDocument/2006/relationships/customXml" Target="../ink/ink20.xml"/><Relationship Id="rId4" Type="http://schemas.openxmlformats.org/officeDocument/2006/relationships/customXml" Target="../ink/ink17.xml"/><Relationship Id="rId9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Cloze probability and sentence constraint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Every morning Dan drinks __  </a:t>
            </a:r>
          </a:p>
          <a:p>
            <a:pPr marL="457200" lvl="1" indent="0">
              <a:buNone/>
            </a:pPr>
            <a:r>
              <a:rPr lang="en-US" dirty="0"/>
              <a:t>Coffee (80%)</a:t>
            </a:r>
          </a:p>
          <a:p>
            <a:pPr marL="457200" lvl="1" indent="0">
              <a:buNone/>
            </a:pPr>
            <a:r>
              <a:rPr lang="en-US" dirty="0"/>
              <a:t>Juice (10%)</a:t>
            </a:r>
          </a:p>
          <a:p>
            <a:pPr marL="457200" lvl="1" indent="0">
              <a:buNone/>
            </a:pPr>
            <a:r>
              <a:rPr lang="en-US" dirty="0"/>
              <a:t>Tea (6%)</a:t>
            </a:r>
          </a:p>
          <a:p>
            <a:pPr marL="457200" lvl="1" indent="0">
              <a:buNone/>
            </a:pPr>
            <a:r>
              <a:rPr lang="en-US" dirty="0"/>
              <a:t>Water (3%)</a:t>
            </a:r>
          </a:p>
          <a:p>
            <a:pPr marL="457200" lvl="1" indent="0">
              <a:buNone/>
            </a:pPr>
            <a:r>
              <a:rPr lang="en-US" dirty="0"/>
              <a:t>Beer (1%) 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Dan likes to drink __ </a:t>
            </a:r>
          </a:p>
          <a:p>
            <a:pPr marL="457200" lvl="1" indent="0">
              <a:buNone/>
            </a:pPr>
            <a:r>
              <a:rPr lang="en-US" dirty="0"/>
              <a:t>Water (15%)</a:t>
            </a:r>
          </a:p>
          <a:p>
            <a:pPr marL="457200" lvl="1" indent="0">
              <a:buNone/>
            </a:pPr>
            <a:r>
              <a:rPr lang="en-US" dirty="0"/>
              <a:t>Coke (15%)</a:t>
            </a:r>
          </a:p>
          <a:p>
            <a:pPr marL="457200" lvl="1" indent="0">
              <a:buNone/>
            </a:pPr>
            <a:r>
              <a:rPr lang="en-US" dirty="0"/>
              <a:t>Beer (10%)</a:t>
            </a:r>
          </a:p>
          <a:p>
            <a:pPr marL="457200" lvl="1" indent="0">
              <a:buNone/>
            </a:pPr>
            <a:r>
              <a:rPr lang="en-US" dirty="0"/>
              <a:t>Wine (10%)</a:t>
            </a:r>
          </a:p>
          <a:p>
            <a:pPr marL="457200" lvl="1" indent="0">
              <a:buNone/>
            </a:pPr>
            <a:r>
              <a:rPr lang="en-US" dirty="0"/>
              <a:t>Orange juice (8%) </a:t>
            </a:r>
          </a:p>
          <a:p>
            <a:pPr marL="457200" lvl="1" indent="0">
              <a:buNone/>
            </a:pPr>
            <a:r>
              <a:rPr lang="en-US" dirty="0"/>
              <a:t>…. </a:t>
            </a: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6109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Cloze probability and sentence constraint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Every morning Dan drinks __  </a:t>
            </a:r>
          </a:p>
          <a:p>
            <a:pPr marL="457200" lvl="1" indent="0">
              <a:buNone/>
            </a:pPr>
            <a:r>
              <a:rPr lang="en-US" dirty="0"/>
              <a:t>Coffee (80%)</a:t>
            </a:r>
          </a:p>
          <a:p>
            <a:pPr marL="457200" lvl="1" indent="0">
              <a:buNone/>
            </a:pPr>
            <a:r>
              <a:rPr lang="en-US" dirty="0"/>
              <a:t>Juice (10%)</a:t>
            </a:r>
          </a:p>
          <a:p>
            <a:pPr marL="457200" lvl="1" indent="0">
              <a:buNone/>
            </a:pPr>
            <a:r>
              <a:rPr lang="en-US" dirty="0"/>
              <a:t>Tea (6%)</a:t>
            </a:r>
          </a:p>
          <a:p>
            <a:pPr marL="457200" lvl="1" indent="0">
              <a:buNone/>
            </a:pPr>
            <a:r>
              <a:rPr lang="en-US" dirty="0"/>
              <a:t>Water (3%)</a:t>
            </a:r>
          </a:p>
          <a:p>
            <a:pPr marL="457200" lvl="1" indent="0">
              <a:buNone/>
            </a:pPr>
            <a:r>
              <a:rPr lang="en-US" dirty="0"/>
              <a:t>Beer (1%)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High constraint sentence (80%)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Dan likes to drink __ </a:t>
            </a:r>
          </a:p>
          <a:p>
            <a:pPr marL="457200" lvl="1" indent="0">
              <a:buNone/>
            </a:pPr>
            <a:r>
              <a:rPr lang="en-US" dirty="0"/>
              <a:t>Water (15%)</a:t>
            </a:r>
          </a:p>
          <a:p>
            <a:pPr marL="457200" lvl="1" indent="0">
              <a:buNone/>
            </a:pPr>
            <a:r>
              <a:rPr lang="en-US" dirty="0"/>
              <a:t>Coke (15%)</a:t>
            </a:r>
          </a:p>
          <a:p>
            <a:pPr marL="457200" lvl="1" indent="0">
              <a:buNone/>
            </a:pPr>
            <a:r>
              <a:rPr lang="en-US" dirty="0"/>
              <a:t>Beer (10%)</a:t>
            </a:r>
          </a:p>
          <a:p>
            <a:pPr marL="457200" lvl="1" indent="0">
              <a:buNone/>
            </a:pPr>
            <a:r>
              <a:rPr lang="en-US" dirty="0"/>
              <a:t>Wine (10%)</a:t>
            </a:r>
          </a:p>
          <a:p>
            <a:pPr marL="457200" lvl="1" indent="0">
              <a:buNone/>
            </a:pPr>
            <a:r>
              <a:rPr lang="en-US" dirty="0"/>
              <a:t>Orange juice (8%) </a:t>
            </a:r>
          </a:p>
          <a:p>
            <a:pPr marL="457200" lvl="1" indent="0">
              <a:buNone/>
            </a:pPr>
            <a:r>
              <a:rPr lang="en-US" dirty="0"/>
              <a:t>….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Low constraint sentence (15%)</a:t>
            </a:r>
            <a:endParaRPr lang="en-US" dirty="0"/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97241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עדויות התנהגותיות לחיזוי/אינטגרציה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878" y="3067493"/>
            <a:ext cx="5781675" cy="2781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319" y="3434095"/>
            <a:ext cx="3733800" cy="1733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9581" y="2158409"/>
            <a:ext cx="3234155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dirty="0" err="1"/>
              <a:t>Traxler</a:t>
            </a:r>
            <a:r>
              <a:rPr lang="en-US" sz="2800" dirty="0"/>
              <a:t> &amp; Foss (2000)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2327209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Electroencephalogram - EEG 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1" y="2362201"/>
            <a:ext cx="3521869" cy="3053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366" y="2133601"/>
            <a:ext cx="2461034" cy="365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58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מקור הסיגנל החשמלי 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2432" y="1676399"/>
            <a:ext cx="7344568" cy="481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80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 dirty="0"/>
              <a:t>EEG</a:t>
            </a:r>
            <a:r>
              <a:rPr lang="he-IL" dirty="0"/>
              <a:t> ומצבי עוררות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672" y="1690688"/>
            <a:ext cx="5922428" cy="468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6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מ-</a:t>
            </a:r>
            <a:r>
              <a:rPr lang="en-US" dirty="0"/>
              <a:t>EEG</a:t>
            </a:r>
            <a:r>
              <a:rPr lang="he-IL" dirty="0"/>
              <a:t> </a:t>
            </a:r>
            <a:br>
              <a:rPr lang="he-IL" dirty="0"/>
            </a:br>
            <a:r>
              <a:rPr lang="he-IL" dirty="0"/>
              <a:t>ל-</a:t>
            </a:r>
            <a:r>
              <a:rPr lang="en-US" dirty="0"/>
              <a:t>ERP- event-related potentials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81201"/>
            <a:ext cx="8146256" cy="380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4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רכיבי (קומפוננטות) </a:t>
            </a:r>
            <a:r>
              <a:rPr lang="en-US" dirty="0"/>
              <a:t>ERP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74503" t="16103"/>
          <a:stretch/>
        </p:blipFill>
        <p:spPr>
          <a:xfrm>
            <a:off x="5191432" y="1769805"/>
            <a:ext cx="2942534" cy="451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46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N400: </a:t>
            </a:r>
            <a:r>
              <a:rPr lang="en-US" dirty="0" err="1"/>
              <a:t>Kutas</a:t>
            </a:r>
            <a:r>
              <a:rPr lang="en-US" dirty="0"/>
              <a:t> &amp; </a:t>
            </a:r>
            <a:r>
              <a:rPr lang="en-US" dirty="0" err="1"/>
              <a:t>Hillyard</a:t>
            </a:r>
            <a:r>
              <a:rPr lang="en-US" dirty="0"/>
              <a:t> (1980) </a:t>
            </a:r>
            <a:br>
              <a:rPr lang="en-US" dirty="0"/>
            </a:b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367" y="183817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N400 in response to anomalous words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a. She spread the warm bread with butter.</a:t>
            </a:r>
          </a:p>
          <a:p>
            <a:pPr marL="0" indent="0">
              <a:buNone/>
            </a:pPr>
            <a:r>
              <a:rPr lang="en-US" dirty="0"/>
              <a:t>b. She spread the warm bread with socks.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he-IL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096" y="1027906"/>
            <a:ext cx="5145529" cy="575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60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N400: </a:t>
            </a:r>
            <a:r>
              <a:rPr lang="en-US" dirty="0" err="1"/>
              <a:t>Kutas</a:t>
            </a:r>
            <a:r>
              <a:rPr lang="en-US" dirty="0"/>
              <a:t> &amp; </a:t>
            </a:r>
            <a:r>
              <a:rPr lang="en-US" dirty="0" err="1"/>
              <a:t>Hillyard</a:t>
            </a:r>
            <a:r>
              <a:rPr lang="en-US" dirty="0"/>
              <a:t> (1984) </a:t>
            </a:r>
            <a:br>
              <a:rPr lang="en-US" dirty="0"/>
            </a:b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367" y="1838177"/>
            <a:ext cx="726104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N400 amplitude is inversely correlated with the word’s cloze probability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Every morning Dan drinks __  </a:t>
            </a:r>
          </a:p>
          <a:p>
            <a:pPr marL="0" indent="0">
              <a:buNone/>
            </a:pPr>
            <a:r>
              <a:rPr lang="en-US" dirty="0"/>
              <a:t>Coffee (80%)</a:t>
            </a:r>
          </a:p>
          <a:p>
            <a:pPr marL="0" indent="0">
              <a:buNone/>
            </a:pPr>
            <a:r>
              <a:rPr lang="en-US" dirty="0"/>
              <a:t>Juice (10%)</a:t>
            </a:r>
          </a:p>
          <a:p>
            <a:pPr marL="0" indent="0">
              <a:buNone/>
            </a:pPr>
            <a:r>
              <a:rPr lang="en-US" dirty="0"/>
              <a:t>Tea (6%)</a:t>
            </a:r>
          </a:p>
          <a:p>
            <a:pPr marL="0" indent="0">
              <a:buNone/>
            </a:pPr>
            <a:r>
              <a:rPr lang="en-US" dirty="0"/>
              <a:t>Water (3%)</a:t>
            </a:r>
          </a:p>
          <a:p>
            <a:pPr marL="0" indent="0">
              <a:buNone/>
            </a:pPr>
            <a:r>
              <a:rPr lang="en-US" dirty="0"/>
              <a:t>Beer (1%)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407" y="1690688"/>
            <a:ext cx="437197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69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N400: Ness &amp; Meltzer-Asscher (2018)</a:t>
            </a:r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070A36-645D-416B-B68C-AA35775388D0}"/>
              </a:ext>
            </a:extLst>
          </p:cNvPr>
          <p:cNvGraphicFramePr>
            <a:graphicFrameLocks noGrp="1"/>
          </p:cNvGraphicFramePr>
          <p:nvPr/>
        </p:nvGraphicFramePr>
        <p:xfrm>
          <a:off x="2718067" y="3201152"/>
          <a:ext cx="5954446" cy="3543046"/>
        </p:xfrm>
        <a:graphic>
          <a:graphicData uri="http://schemas.openxmlformats.org/drawingml/2006/table">
            <a:tbl>
              <a:tblPr firstRow="1" band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218834971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22242516"/>
                    </a:ext>
                  </a:extLst>
                </a:gridCol>
                <a:gridCol w="2022526">
                  <a:extLst>
                    <a:ext uri="{9D8B030D-6E8A-4147-A177-3AD203B41FA5}">
                      <a16:colId xmlns:a16="http://schemas.microsoft.com/office/drawing/2014/main" val="1613783405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335" marR="82335" marT="41167" marB="41167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l"/>
                      <a:endParaRPr lang="en-US" sz="2000" b="1" dirty="0">
                        <a:solidFill>
                          <a:schemeClr val="accent2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335" marR="82335" marT="41167" marB="4116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l"/>
                      <a:r>
                        <a:rPr lang="en-US" sz="2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sz="2000" b="1" dirty="0">
                          <a:solidFill>
                            <a:srgbClr val="0099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Noun</a:t>
                      </a:r>
                    </a:p>
                  </a:txBody>
                  <a:tcPr marL="82335" marR="82335" marT="41167" marB="4116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690821"/>
                  </a:ext>
                </a:extLst>
              </a:tr>
              <a:tr h="8646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335" marR="82335" marT="41167" marB="41167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335" marR="82335" marT="41167" marB="4116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335" marR="82335" marT="41167" marB="4116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09794"/>
                  </a:ext>
                </a:extLst>
              </a:tr>
              <a:tr h="93987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marL="82335" marR="82335" marT="41167" marB="41167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335" marR="82335" marT="41167" marB="4116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335" marR="82335" marT="41167" marB="4116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558796"/>
                  </a:ext>
                </a:extLst>
              </a:tr>
              <a:tr h="93987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335" marR="82335" marT="41167" marB="41167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335" marR="82335" marT="41167" marB="4116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335" marR="82335" marT="41167" marB="4116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333253"/>
                  </a:ext>
                </a:extLst>
              </a:tr>
              <a:tr h="3654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335" marR="82335" marT="41167" marB="41167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335" marR="82335" marT="41167" marB="4116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335" marR="82335" marT="41167" marB="4116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6625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26F22B99-6410-4BB0-B0B6-96E8EB021481}"/>
              </a:ext>
            </a:extLst>
          </p:cNvPr>
          <p:cNvGrpSpPr/>
          <p:nvPr/>
        </p:nvGrpSpPr>
        <p:grpSpPr>
          <a:xfrm>
            <a:off x="9393016" y="3762936"/>
            <a:ext cx="1736998" cy="623992"/>
            <a:chOff x="-74630" y="28248"/>
            <a:chExt cx="3547142" cy="1140542"/>
          </a:xfrm>
        </p:grpSpPr>
        <p:sp>
          <p:nvSpPr>
            <p:cNvPr id="8" name="Text Box 2">
              <a:extLst>
                <a:ext uri="{FF2B5EF4-FFF2-40B4-BE49-F238E27FC236}">
                  <a16:creationId xmlns:a16="http://schemas.microsoft.com/office/drawing/2014/main" id="{59A76BA1-B8AF-4BE9-9783-0D3E94703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571" y="28248"/>
              <a:ext cx="3097941" cy="11405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82335" tIns="41167" rIns="82335" bIns="41167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18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Calibri" panose="020F0502020204030204" pitchFamily="34" charset="0"/>
                  <a:cs typeface="Arial" panose="020B0604020202020204" pitchFamily="34" charset="0"/>
                </a:rPr>
                <a:t>High constraint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0" marR="0" lvl="0" indent="0" defTabSz="4572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18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Calibri" panose="020F0502020204030204" pitchFamily="34" charset="0"/>
                  <a:cs typeface="Arial" panose="020B0604020202020204" pitchFamily="34" charset="0"/>
                </a:rPr>
                <a:t>Low constraint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3CF701-77EB-4DD3-A20E-27A09B91EA91}"/>
                </a:ext>
              </a:extLst>
            </p:cNvPr>
            <p:cNvCxnSpPr/>
            <p:nvPr/>
          </p:nvCxnSpPr>
          <p:spPr>
            <a:xfrm flipH="1" flipV="1">
              <a:off x="-74630" y="337358"/>
              <a:ext cx="457213" cy="0"/>
            </a:xfrm>
            <a:prstGeom prst="line">
              <a:avLst/>
            </a:prstGeom>
            <a:noFill/>
            <a:ln w="19050" cap="rnd" cmpd="sng" algn="ctr">
              <a:solidFill>
                <a:srgbClr val="0033CC"/>
              </a:solidFill>
              <a:prstDash val="solid"/>
            </a:ln>
            <a:effectLst/>
          </p:spPr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B8F912E-8406-42A2-8537-72371EDE13D4}"/>
                </a:ext>
              </a:extLst>
            </p:cNvPr>
            <p:cNvCxnSpPr/>
            <p:nvPr/>
          </p:nvCxnSpPr>
          <p:spPr>
            <a:xfrm flipH="1" flipV="1">
              <a:off x="-74630" y="864218"/>
              <a:ext cx="457213" cy="0"/>
            </a:xfrm>
            <a:prstGeom prst="line">
              <a:avLst/>
            </a:prstGeom>
            <a:noFill/>
            <a:ln w="19050" cap="rnd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1B0AF9C-EDC8-44D3-BDAF-EA0ADF9F0433}"/>
              </a:ext>
            </a:extLst>
          </p:cNvPr>
          <p:cNvGraphicFramePr>
            <a:graphicFrameLocks noGrp="1"/>
          </p:cNvGraphicFramePr>
          <p:nvPr/>
        </p:nvGraphicFramePr>
        <p:xfrm>
          <a:off x="1022814" y="1828493"/>
          <a:ext cx="10203522" cy="1097280"/>
        </p:xfrm>
        <a:graphic>
          <a:graphicData uri="http://schemas.openxmlformats.org/drawingml/2006/table">
            <a:tbl>
              <a:tblPr firstRow="1" firstCol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1724365428"/>
                    </a:ext>
                  </a:extLst>
                </a:gridCol>
                <a:gridCol w="9060522">
                  <a:extLst>
                    <a:ext uri="{9D8B030D-6E8A-4147-A177-3AD203B41FA5}">
                      <a16:colId xmlns:a16="http://schemas.microsoft.com/office/drawing/2014/main" val="989398550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1440070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288014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432021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576028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720035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864042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008049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152056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l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Constraint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1751" marR="61751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marL="0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1440070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288014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432021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576028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720035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864042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008049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152056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2880141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Sentence</a:t>
                      </a: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(translated from Hebrew)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751" marR="61751" marT="0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215486"/>
                  </a:ext>
                </a:extLst>
              </a:tr>
              <a:tr h="731520">
                <a:tc>
                  <a:txBody>
                    <a:bodyPr/>
                    <a:lstStyle>
                      <a:lvl1pPr marL="0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1440070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288014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432021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576028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720035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864042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008049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152056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33CC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r>
                        <a:rPr lang="en-US" sz="1800" b="0" dirty="0">
                          <a:solidFill>
                            <a:srgbClr val="0033CC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marL="0" marR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1751" marR="61751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1440070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2880141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4320211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5760281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7200351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8640422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0080492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1520562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2880141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‘Since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Ofir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isn’t familiar with the library, the librarian helped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him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find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ACC</a:t>
                      </a:r>
                      <a:r>
                        <a:rPr lang="en-US" sz="1800" b="0" kern="1200" baseline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1" kern="1200" dirty="0"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 book</a:t>
                      </a:r>
                      <a:r>
                        <a:rPr lang="en-US" sz="1800" kern="1200" dirty="0"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he needed’</a:t>
                      </a: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‘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Ofir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had searched for hours, but he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couldn’t find ACC </a:t>
                      </a:r>
                      <a:r>
                        <a:rPr lang="en-US" sz="1800" b="1" kern="1200" dirty="0"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 book</a:t>
                      </a:r>
                      <a:r>
                        <a:rPr lang="en-US" sz="1800" kern="1200" dirty="0"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he needed’</a:t>
                      </a:r>
                    </a:p>
                  </a:txBody>
                  <a:tcPr marL="61751" marR="61751" marT="0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283739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E7072C49-C851-4115-81EC-70DDDA900DBC}"/>
              </a:ext>
            </a:extLst>
          </p:cNvPr>
          <p:cNvGrpSpPr/>
          <p:nvPr/>
        </p:nvGrpSpPr>
        <p:grpSpPr>
          <a:xfrm>
            <a:off x="5231219" y="3762936"/>
            <a:ext cx="3441293" cy="2403948"/>
            <a:chOff x="26320022" y="14902347"/>
            <a:chExt cx="5001020" cy="2739508"/>
          </a:xfrm>
        </p:grpSpPr>
        <p:pic>
          <p:nvPicPr>
            <p:cNvPr id="37" name="Picture 36" descr="All_Noun">
              <a:extLst>
                <a:ext uri="{FF2B5EF4-FFF2-40B4-BE49-F238E27FC236}">
                  <a16:creationId xmlns:a16="http://schemas.microsoft.com/office/drawing/2014/main" id="{88F4103A-5583-4531-983B-13955DC978F4}"/>
                </a:ext>
              </a:extLst>
            </p:cNvPr>
            <p:cNvPicPr/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35" t="70752" r="39795" b="13931"/>
            <a:stretch/>
          </p:blipFill>
          <p:spPr bwMode="auto">
            <a:xfrm>
              <a:off x="26320022" y="14902347"/>
              <a:ext cx="5001020" cy="2739508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CCD4DA2-F0A8-4485-BA27-890F38F3C9A7}"/>
                </a:ext>
              </a:extLst>
            </p:cNvPr>
            <p:cNvGrpSpPr/>
            <p:nvPr/>
          </p:nvGrpSpPr>
          <p:grpSpPr>
            <a:xfrm>
              <a:off x="26783746" y="16036741"/>
              <a:ext cx="4423863" cy="431800"/>
              <a:chOff x="20642087" y="16056197"/>
              <a:chExt cx="4423864" cy="431801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56976F5-9540-4675-BF52-1A74A0AE5C9E}"/>
                  </a:ext>
                </a:extLst>
              </p:cNvPr>
              <p:cNvCxnSpPr/>
              <p:nvPr/>
            </p:nvCxnSpPr>
            <p:spPr>
              <a:xfrm>
                <a:off x="21316912" y="16240424"/>
                <a:ext cx="3749039" cy="0"/>
              </a:xfrm>
              <a:prstGeom prst="line">
                <a:avLst/>
              </a:prstGeom>
              <a:noFill/>
              <a:ln w="12700" cap="rnd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  <p:pic>
            <p:nvPicPr>
              <p:cNvPr id="31" name="Picture 30" descr="C:\Users\lenovo\Google Drive\לימודים\מחקר\P600\Figs\All_Verb.tif">
                <a:extLst>
                  <a:ext uri="{FF2B5EF4-FFF2-40B4-BE49-F238E27FC236}">
                    <a16:creationId xmlns:a16="http://schemas.microsoft.com/office/drawing/2014/main" id="{5B99F674-7CB7-464F-8E90-FBB553ED4DFA}"/>
                  </a:ext>
                </a:extLst>
              </p:cNvPr>
              <p:cNvPicPr/>
              <p:nvPr/>
            </p:nvPicPr>
            <p:blipFill rotWithShape="1"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090" t="82999" r="52129" b="14508"/>
              <a:stretch/>
            </p:blipFill>
            <p:spPr bwMode="auto">
              <a:xfrm>
                <a:off x="20642087" y="16056197"/>
                <a:ext cx="444501" cy="431801"/>
              </a:xfrm>
              <a:prstGeom prst="rect">
                <a:avLst/>
              </a:prstGeom>
              <a:noFill/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738116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 for prediction: </a:t>
            </a:r>
            <a:r>
              <a:rPr lang="en-US" dirty="0" err="1"/>
              <a:t>Altmann</a:t>
            </a:r>
            <a:r>
              <a:rPr lang="en-US" dirty="0"/>
              <a:t> &amp; </a:t>
            </a:r>
            <a:r>
              <a:rPr lang="en-US" dirty="0" err="1"/>
              <a:t>Kamide</a:t>
            </a:r>
            <a:r>
              <a:rPr lang="en-US" dirty="0"/>
              <a:t> (1999), visual world </a:t>
            </a:r>
            <a:r>
              <a:rPr lang="en-US" dirty="0" err="1"/>
              <a:t>eyetracking</a:t>
            </a:r>
            <a:r>
              <a:rPr lang="en-US" dirty="0"/>
              <a:t> 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59" y="1861159"/>
            <a:ext cx="5704065" cy="44758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149" y="2551813"/>
            <a:ext cx="5425106" cy="398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3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 for prediction: </a:t>
            </a:r>
            <a:r>
              <a:rPr lang="en-US" dirty="0" err="1"/>
              <a:t>Federmeier</a:t>
            </a:r>
            <a:r>
              <a:rPr lang="en-US" dirty="0"/>
              <a:t> &amp; </a:t>
            </a:r>
            <a:r>
              <a:rPr lang="en-US" dirty="0" err="1"/>
              <a:t>Kutas</a:t>
            </a:r>
            <a:r>
              <a:rPr lang="en-US" dirty="0"/>
              <a:t> (1999)</a:t>
            </a:r>
            <a:endParaRPr lang="he-I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513" y="1996834"/>
            <a:ext cx="5135402" cy="10440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816" y="1690688"/>
            <a:ext cx="3138453" cy="502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493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 for prediction: </a:t>
            </a:r>
            <a:r>
              <a:rPr lang="en-US" dirty="0" err="1"/>
              <a:t>Federmeier</a:t>
            </a:r>
            <a:r>
              <a:rPr lang="en-US" dirty="0"/>
              <a:t> &amp; </a:t>
            </a:r>
            <a:r>
              <a:rPr lang="en-US" dirty="0" err="1"/>
              <a:t>Kutas</a:t>
            </a:r>
            <a:r>
              <a:rPr lang="en-US" dirty="0"/>
              <a:t> (1999)</a:t>
            </a:r>
            <a:endParaRPr lang="he-I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513" y="1996834"/>
            <a:ext cx="5135402" cy="10440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816" y="1690688"/>
            <a:ext cx="3138453" cy="5024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0189" y="5292522"/>
            <a:ext cx="5211726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Conclusion: features of the predicted word are pre-activated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4292105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current experiment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day was breezy, so the boy went outside to fly …</a:t>
            </a:r>
          </a:p>
          <a:p>
            <a:pPr lvl="1"/>
            <a:r>
              <a:rPr lang="en-US" dirty="0"/>
              <a:t>a kite   (89% cloze probability)</a:t>
            </a:r>
          </a:p>
          <a:p>
            <a:pPr lvl="1"/>
            <a:r>
              <a:rPr lang="en-US" dirty="0"/>
              <a:t>an airplane  (5% cloze probability)</a:t>
            </a:r>
          </a:p>
          <a:p>
            <a:endParaRPr lang="en-US" dirty="0"/>
          </a:p>
          <a:p>
            <a:r>
              <a:rPr lang="en-US" dirty="0"/>
              <a:t>Sentences varying in constraint leading to expectations of words starting with consonant/vowel</a:t>
            </a:r>
          </a:p>
          <a:p>
            <a:r>
              <a:rPr lang="en-US" dirty="0"/>
              <a:t>Targets varying in cloze probability 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47595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current experiment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day was breezy, so the boy went outside to fly …</a:t>
            </a:r>
          </a:p>
          <a:p>
            <a:pPr lvl="1"/>
            <a:r>
              <a:rPr lang="en-US" dirty="0"/>
              <a:t>a kite   (89% cloze probability)</a:t>
            </a:r>
          </a:p>
          <a:p>
            <a:pPr lvl="1"/>
            <a:r>
              <a:rPr lang="en-US" dirty="0"/>
              <a:t>an airplane  (5% cloze probability)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N400 (kite) &lt; N400 (airplane): can be due to prediction or integration 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33395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current experiment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day was breezy, so the boy went outside to fly …</a:t>
            </a:r>
          </a:p>
          <a:p>
            <a:pPr lvl="1"/>
            <a:r>
              <a:rPr lang="en-US" dirty="0"/>
              <a:t>a kite   (89% cloze probability)</a:t>
            </a:r>
          </a:p>
          <a:p>
            <a:pPr lvl="1"/>
            <a:r>
              <a:rPr lang="en-US" dirty="0"/>
              <a:t>an airplane  (5% cloze probability)</a:t>
            </a:r>
          </a:p>
          <a:p>
            <a:pPr lvl="1"/>
            <a:endParaRPr lang="en-US" dirty="0"/>
          </a:p>
          <a:p>
            <a:r>
              <a:rPr lang="en-US" dirty="0"/>
              <a:t>N400 (a) &lt; N400 (an): can be due to prediction </a:t>
            </a:r>
            <a:r>
              <a:rPr lang="en-US" strike="sngStrike" dirty="0"/>
              <a:t>or integration </a:t>
            </a:r>
            <a:endParaRPr lang="en-US" dirty="0"/>
          </a:p>
          <a:p>
            <a:pPr lvl="1"/>
            <a:r>
              <a:rPr lang="en-US" dirty="0"/>
              <a:t>The articles are not distinguished by how well they fit the event schema – their semantics is identical </a:t>
            </a:r>
          </a:p>
          <a:p>
            <a:pPr lvl="1"/>
            <a:r>
              <a:rPr lang="en-US" dirty="0"/>
              <a:t>‘a’ will only be easier to integrate </a:t>
            </a:r>
          </a:p>
          <a:p>
            <a:pPr lvl="2"/>
            <a:r>
              <a:rPr lang="en-US" dirty="0"/>
              <a:t>If it’s easier to integrate shorter/more frequent words. In that case ‘a’ is predicted to elicit smaller N400 amplitude than ‘an’ regardless of context </a:t>
            </a:r>
          </a:p>
          <a:p>
            <a:pPr lvl="2"/>
            <a:r>
              <a:rPr lang="en-US" dirty="0"/>
              <a:t>if readers had already formed an expectation for </a:t>
            </a:r>
            <a:r>
              <a:rPr lang="en-US" b="1" dirty="0"/>
              <a:t>the word </a:t>
            </a:r>
            <a:r>
              <a:rPr lang="en-US" dirty="0"/>
              <a:t>‘kite’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76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Predictions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brain generates predictions of word forms probabilistically, then responses on the article are expected to be correlated with the article’s cloze probability (reflecting the predicted noun’s cloze probability)</a:t>
            </a:r>
          </a:p>
          <a:p>
            <a:r>
              <a:rPr lang="en-US" dirty="0"/>
              <a:t>If predictions are not generated, then responses on the articles (‘a’ and ‘an’)</a:t>
            </a:r>
          </a:p>
          <a:p>
            <a:pPr lvl="1"/>
            <a:r>
              <a:rPr lang="en-US" dirty="0"/>
              <a:t>should not differ, as they are equally easy to integrate </a:t>
            </a:r>
          </a:p>
          <a:p>
            <a:pPr lvl="1"/>
            <a:r>
              <a:rPr lang="en-US" dirty="0"/>
              <a:t>or ‘a’ should always be easier to integrate than ‘an’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66331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Materials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80 sentence contexts, with either expected or unexpected (but congruent) indefinite </a:t>
            </a:r>
            <a:r>
              <a:rPr lang="en-US" dirty="0" err="1"/>
              <a:t>article+noun</a:t>
            </a:r>
            <a:endParaRPr lang="en-US" dirty="0"/>
          </a:p>
          <a:p>
            <a:r>
              <a:rPr lang="en-US" dirty="0"/>
              <a:t>Each </a:t>
            </a:r>
            <a:r>
              <a:rPr lang="en-US" dirty="0" err="1"/>
              <a:t>article+noun</a:t>
            </a:r>
            <a:r>
              <a:rPr lang="en-US" dirty="0"/>
              <a:t> served as both expected and unexpected continuation, in different contexts </a:t>
            </a:r>
          </a:p>
          <a:p>
            <a:r>
              <a:rPr lang="en-US" dirty="0"/>
              <a:t>Latin square design </a:t>
            </a:r>
          </a:p>
          <a:p>
            <a:r>
              <a:rPr lang="en-US" dirty="0"/>
              <a:t>Equal number of expected/unexpected continuations and a/an in each list</a:t>
            </a:r>
          </a:p>
          <a:p>
            <a:r>
              <a:rPr lang="en-US" dirty="0"/>
              <a:t>25% of sentences followed by comprehension questions (near-ceiling performance)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76325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Materials 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Cloze probabilities </a:t>
            </a:r>
          </a:p>
          <a:p>
            <a:pPr lvl="1"/>
            <a:r>
              <a:rPr lang="en-US" dirty="0"/>
              <a:t>for articles: obtained from 30 participants completing 80 sentences (cloze probabilities ranged from 0 to 96%) </a:t>
            </a:r>
          </a:p>
          <a:p>
            <a:pPr lvl="2"/>
            <a:r>
              <a:rPr lang="en-US" dirty="0"/>
              <a:t>It was windy, so the boy went outside to fly… </a:t>
            </a:r>
          </a:p>
          <a:p>
            <a:pPr lvl="1"/>
            <a:r>
              <a:rPr lang="en-US" dirty="0"/>
              <a:t>For nouns: obtained from 30 participants for each article (60 overall) (cloze probabilities ranged from 0 to 100%)</a:t>
            </a:r>
          </a:p>
          <a:p>
            <a:pPr lvl="2"/>
            <a:r>
              <a:rPr lang="en-US" dirty="0"/>
              <a:t>It was windy, so the boy went outside to fly a… </a:t>
            </a:r>
          </a:p>
          <a:p>
            <a:pPr lvl="2"/>
            <a:r>
              <a:rPr lang="en-US" dirty="0"/>
              <a:t>It was windy, so the boy went outside to fly an…  </a:t>
            </a:r>
          </a:p>
          <a:p>
            <a:pPr lvl="1"/>
            <a:r>
              <a:rPr lang="en-US" dirty="0"/>
              <a:t>Different participants than those in the ERP experiment 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20689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Participants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32 English speakers, ages 18-37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30419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Procedure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Sentences presented one word at a time, with a 500 </a:t>
            </a:r>
            <a:r>
              <a:rPr lang="en-US" dirty="0" err="1"/>
              <a:t>ms</a:t>
            </a:r>
            <a:r>
              <a:rPr lang="en-US" dirty="0"/>
              <a:t> SOA (200 </a:t>
            </a:r>
            <a:r>
              <a:rPr lang="en-US" dirty="0" err="1"/>
              <a:t>ms</a:t>
            </a:r>
            <a:r>
              <a:rPr lang="en-US" dirty="0"/>
              <a:t> duration) </a:t>
            </a:r>
          </a:p>
          <a:p>
            <a:r>
              <a:rPr lang="en-US" dirty="0"/>
              <a:t>EEG recorded from 26 electrodes, referenced to averaged mastoids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69466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Analysis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160 articles and nouns were sorted into ten bins according to cloze probability (0-10, 10-20, … 90-100)</a:t>
            </a:r>
          </a:p>
          <a:p>
            <a:r>
              <a:rPr lang="en-US" dirty="0"/>
              <a:t>Average N400 amplitude for the items in each bin was correlated with the mean cloze probability of the bin, for articles and nouns separately, for each of the 26 electrodes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93854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Nouns  </a:t>
            </a:r>
            <a:endParaRPr lang="he-I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6559" y="1864039"/>
            <a:ext cx="7366148" cy="42728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53833" y="2690037"/>
            <a:ext cx="3285460" cy="3446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5488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Nouns  </a:t>
            </a:r>
            <a:endParaRPr lang="he-IL" dirty="0"/>
          </a:p>
        </p:txBody>
      </p:sp>
      <p:sp>
        <p:nvSpPr>
          <p:cNvPr id="5" name="Rectangle 4"/>
          <p:cNvSpPr/>
          <p:nvPr/>
        </p:nvSpPr>
        <p:spPr>
          <a:xfrm>
            <a:off x="2753833" y="2690037"/>
            <a:ext cx="3285460" cy="3446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701" y="2070247"/>
            <a:ext cx="7303968" cy="37351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988225" y="2690036"/>
            <a:ext cx="3285460" cy="3446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2640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Articles  </a:t>
            </a:r>
            <a:endParaRPr lang="he-I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6559" y="1864039"/>
            <a:ext cx="7366148" cy="42728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79633" y="2690037"/>
            <a:ext cx="3285460" cy="3446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51991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Articles  </a:t>
            </a:r>
            <a:endParaRPr lang="he-IL" dirty="0"/>
          </a:p>
        </p:txBody>
      </p:sp>
      <p:sp>
        <p:nvSpPr>
          <p:cNvPr id="5" name="Rectangle 4"/>
          <p:cNvSpPr/>
          <p:nvPr/>
        </p:nvSpPr>
        <p:spPr>
          <a:xfrm>
            <a:off x="2753833" y="2690037"/>
            <a:ext cx="3285460" cy="3446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701" y="2070247"/>
            <a:ext cx="7303968" cy="37351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39751" y="2690036"/>
            <a:ext cx="3285460" cy="3446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6381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09A12A-0F23-AD95-D0D9-6DCFE8ED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Nieuwland</a:t>
            </a:r>
            <a:r>
              <a:rPr lang="en-US" dirty="0"/>
              <a:t> et al. (2018)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DE5A21-1360-541B-25E8-FA378A2C8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OSF | Replication Recipe Analysis plan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48735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1A45-C653-46B4-7344-EB277C2F1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 </a:t>
            </a:r>
            <a:endParaRPr lang="en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037684-D2A0-5BA9-5B73-95E194B88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259" y="1942540"/>
            <a:ext cx="11282284" cy="249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48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490D6-5B58-76FA-9823-FE95212A4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F74DA-13C8-C867-CEA7-436EA2B7B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DB0E3-CCD7-16B9-44E5-E649C5817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80 sentence contexts with two possible continuations each: a more or less expected indefinite article + noun combination. The noun was followed by at least one subsequent word. </a:t>
            </a:r>
          </a:p>
          <a:p>
            <a:r>
              <a:rPr lang="en-US" dirty="0"/>
              <a:t>Each article + noun combination served once as the more expected continuation and the other time as the less expected continuation. </a:t>
            </a:r>
          </a:p>
          <a:p>
            <a:r>
              <a:rPr lang="en-US" dirty="0"/>
              <a:t>160 items divided to two lists of 80 sentences such that each list contained each noun only once. </a:t>
            </a:r>
          </a:p>
        </p:txBody>
      </p:sp>
    </p:spTree>
    <p:extLst>
      <p:ext uri="{BB962C8B-B14F-4D97-AF65-F5344CB8AC3E}">
        <p14:creationId xmlns:p14="http://schemas.microsoft.com/office/powerpoint/2010/main" val="3792922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Participants and procedure 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9 labs  x ~40 participants per lab = 356 participants, right-handed, ages 18-35 </a:t>
            </a:r>
          </a:p>
          <a:p>
            <a:r>
              <a:rPr lang="en-US" dirty="0"/>
              <a:t>Word by word presentation (200 </a:t>
            </a:r>
            <a:r>
              <a:rPr lang="en-US" dirty="0" err="1"/>
              <a:t>ms</a:t>
            </a:r>
            <a:r>
              <a:rPr lang="en-US" dirty="0"/>
              <a:t> presentation + 300 </a:t>
            </a:r>
            <a:r>
              <a:rPr lang="en-US" dirty="0" err="1"/>
              <a:t>ms</a:t>
            </a:r>
            <a:r>
              <a:rPr lang="en-US" dirty="0"/>
              <a:t> ISI)</a:t>
            </a: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88621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DECF4-CC67-9D56-C9C9-220C09595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N400</a:t>
            </a:r>
            <a:endParaRPr lang="en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4F1FB0-E3F5-B7F6-72F2-567FA88E3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8731" y="1577780"/>
            <a:ext cx="6971030" cy="482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889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D7C91-DFD6-F186-7D68-90A9B0EE2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research only looked at the N400, on articles and nouns</a:t>
            </a:r>
            <a:endParaRPr lang="en-IL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E91D1AA-1BE9-532D-E669-3DF1306D5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99" y="2180310"/>
            <a:ext cx="11282284" cy="24973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F0EB87-3CAB-552E-1906-0B34EB92FE08}"/>
                  </a:ext>
                </a:extLst>
              </p14:cNvPr>
              <p14:cNvContentPartPr/>
              <p14:nvPr/>
            </p14:nvContentPartPr>
            <p14:xfrm>
              <a:off x="6512640" y="2641600"/>
              <a:ext cx="17208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F0EB87-3CAB-552E-1906-0B34EB92FE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58640" y="2533600"/>
                <a:ext cx="279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F691508-0AE1-8573-A30D-029CBC62C9FE}"/>
                  </a:ext>
                </a:extLst>
              </p14:cNvPr>
              <p14:cNvContentPartPr/>
              <p14:nvPr/>
            </p14:nvContentPartPr>
            <p14:xfrm>
              <a:off x="7863720" y="2661760"/>
              <a:ext cx="15192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F691508-0AE1-8573-A30D-029CBC62C9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09720" y="2553760"/>
                <a:ext cx="2595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1495E74-0AE3-7D18-EC77-9A93F84843C8}"/>
                  </a:ext>
                </a:extLst>
              </p14:cNvPr>
              <p14:cNvContentPartPr/>
              <p14:nvPr/>
            </p14:nvContentPartPr>
            <p14:xfrm>
              <a:off x="8900160" y="2702440"/>
              <a:ext cx="4665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1495E74-0AE3-7D18-EC77-9A93F84843C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46160" y="2594800"/>
                <a:ext cx="5742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A5279CA-9F7B-874A-62B3-8B85F6BEDCDA}"/>
                  </a:ext>
                </a:extLst>
              </p14:cNvPr>
              <p14:cNvContentPartPr/>
              <p14:nvPr/>
            </p14:nvContentPartPr>
            <p14:xfrm>
              <a:off x="10353120" y="2641600"/>
              <a:ext cx="41580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A5279CA-9F7B-874A-62B3-8B85F6BEDCD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299120" y="2533600"/>
                <a:ext cx="52344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7642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4F950-B25E-8841-B207-33EFE2EA3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there are additional things to look at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3717C-EECD-FC68-B94B-968CC4F2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563352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03EB-F17D-054B-3A35-6E0B4E19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P600 at the verb </a:t>
            </a:r>
            <a:endParaRPr lang="en-IL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A376623-0680-AE02-45F7-E700A1B6A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739" y="2094940"/>
            <a:ext cx="11491341" cy="25436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A6E2091-3804-2201-2017-D57C6750D8A4}"/>
                  </a:ext>
                </a:extLst>
              </p14:cNvPr>
              <p14:cNvContentPartPr/>
              <p14:nvPr/>
            </p14:nvContentPartPr>
            <p14:xfrm>
              <a:off x="5649000" y="2580040"/>
              <a:ext cx="303480" cy="42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A6E2091-3804-2201-2017-D57C6750D8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5000" y="2472400"/>
                <a:ext cx="41112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793A53C-1A0F-0CB0-172F-BB42979BAB08}"/>
                  </a:ext>
                </a:extLst>
              </p14:cNvPr>
              <p14:cNvContentPartPr/>
              <p14:nvPr/>
            </p14:nvContentPartPr>
            <p14:xfrm>
              <a:off x="5699760" y="2763280"/>
              <a:ext cx="35568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793A53C-1A0F-0CB0-172F-BB42979BAB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46120" y="2655640"/>
                <a:ext cx="4633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7FE7E4C-5BD8-3D32-E15C-29A0C4F754C1}"/>
                  </a:ext>
                </a:extLst>
              </p14:cNvPr>
              <p14:cNvContentPartPr/>
              <p14:nvPr/>
            </p14:nvContentPartPr>
            <p14:xfrm>
              <a:off x="4490880" y="2956240"/>
              <a:ext cx="212400" cy="11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7FE7E4C-5BD8-3D32-E15C-29A0C4F754C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36880" y="2848600"/>
                <a:ext cx="3200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583F42B-E57A-FACE-8599-9A3AC3D16D04}"/>
                  </a:ext>
                </a:extLst>
              </p14:cNvPr>
              <p14:cNvContentPartPr/>
              <p14:nvPr/>
            </p14:nvContentPartPr>
            <p14:xfrm flipV="1">
              <a:off x="4337880" y="3180160"/>
              <a:ext cx="1006200" cy="20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583F42B-E57A-FACE-8599-9A3AC3D16D0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 flipV="1">
                <a:off x="4284240" y="3074022"/>
                <a:ext cx="1113840" cy="23244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17145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ECED-8A31-6652-BE1F-D8535174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P600 at the verb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E8ECB-5003-644B-E312-BAA01A58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previously found P600 on words that generate a strong prediction vs. those that do not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1739216-13C4-FB9B-0634-0B203DCD77BC}"/>
              </a:ext>
            </a:extLst>
          </p:cNvPr>
          <p:cNvGrpSpPr/>
          <p:nvPr/>
        </p:nvGrpSpPr>
        <p:grpSpPr>
          <a:xfrm>
            <a:off x="8952089" y="4767825"/>
            <a:ext cx="1736998" cy="623992"/>
            <a:chOff x="-74630" y="28248"/>
            <a:chExt cx="3547142" cy="1140542"/>
          </a:xfrm>
        </p:grpSpPr>
        <p:sp>
          <p:nvSpPr>
            <p:cNvPr id="5" name="Text Box 2">
              <a:extLst>
                <a:ext uri="{FF2B5EF4-FFF2-40B4-BE49-F238E27FC236}">
                  <a16:creationId xmlns:a16="http://schemas.microsoft.com/office/drawing/2014/main" id="{DC373296-6E4D-5045-1270-154577FD2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571" y="28248"/>
              <a:ext cx="3097941" cy="11405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82335" tIns="41167" rIns="82335" bIns="41167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18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Calibri" panose="020F0502020204030204" pitchFamily="34" charset="0"/>
                  <a:cs typeface="Arial" panose="020B0604020202020204" pitchFamily="34" charset="0"/>
                </a:rPr>
                <a:t>High constraint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0" marR="0" lvl="0" indent="0" defTabSz="4572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18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Calibri" panose="020F0502020204030204" pitchFamily="34" charset="0"/>
                  <a:cs typeface="Arial" panose="020B0604020202020204" pitchFamily="34" charset="0"/>
                </a:rPr>
                <a:t>Low constraint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99BA853-9764-7030-A020-E1489F20ACDD}"/>
                </a:ext>
              </a:extLst>
            </p:cNvPr>
            <p:cNvCxnSpPr/>
            <p:nvPr/>
          </p:nvCxnSpPr>
          <p:spPr>
            <a:xfrm flipH="1" flipV="1">
              <a:off x="-74630" y="337358"/>
              <a:ext cx="457213" cy="0"/>
            </a:xfrm>
            <a:prstGeom prst="line">
              <a:avLst/>
            </a:prstGeom>
            <a:noFill/>
            <a:ln w="19050" cap="rnd" cmpd="sng" algn="ctr">
              <a:solidFill>
                <a:srgbClr val="0033CC"/>
              </a:solidFill>
              <a:prstDash val="solid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1EC2843-FC6A-3966-BF84-1FC886660446}"/>
                </a:ext>
              </a:extLst>
            </p:cNvPr>
            <p:cNvCxnSpPr/>
            <p:nvPr/>
          </p:nvCxnSpPr>
          <p:spPr>
            <a:xfrm flipH="1" flipV="1">
              <a:off x="-74630" y="864218"/>
              <a:ext cx="457213" cy="0"/>
            </a:xfrm>
            <a:prstGeom prst="line">
              <a:avLst/>
            </a:prstGeom>
            <a:noFill/>
            <a:ln w="19050" cap="rnd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804DAA3-C44B-482A-66E8-1411986D87A4}"/>
              </a:ext>
            </a:extLst>
          </p:cNvPr>
          <p:cNvGrpSpPr/>
          <p:nvPr/>
        </p:nvGrpSpPr>
        <p:grpSpPr>
          <a:xfrm>
            <a:off x="4829646" y="4595846"/>
            <a:ext cx="2500040" cy="1518380"/>
            <a:chOff x="20650035" y="14881732"/>
            <a:chExt cx="5001024" cy="2694319"/>
          </a:xfrm>
        </p:grpSpPr>
        <p:pic>
          <p:nvPicPr>
            <p:cNvPr id="9" name="Picture 8" descr="C:\Users\lenovo\Google Drive\לימודים\מחקר\P600\Figs\All_Verb.tif">
              <a:extLst>
                <a:ext uri="{FF2B5EF4-FFF2-40B4-BE49-F238E27FC236}">
                  <a16:creationId xmlns:a16="http://schemas.microsoft.com/office/drawing/2014/main" id="{971F3EE4-401C-440B-4014-D51C4B6CB41E}"/>
                </a:ext>
              </a:extLst>
            </p:cNvPr>
            <p:cNvPicPr/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985" t="70542" r="39979" b="13901"/>
            <a:stretch/>
          </p:blipFill>
          <p:spPr bwMode="auto">
            <a:xfrm>
              <a:off x="20650035" y="14881732"/>
              <a:ext cx="5001024" cy="2694319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B14B67C-7CCD-95EA-82D6-6654583F65E4}"/>
                </a:ext>
              </a:extLst>
            </p:cNvPr>
            <p:cNvGrpSpPr/>
            <p:nvPr/>
          </p:nvGrpSpPr>
          <p:grpSpPr>
            <a:xfrm>
              <a:off x="21140368" y="16012986"/>
              <a:ext cx="4416619" cy="431800"/>
              <a:chOff x="21140368" y="16012985"/>
              <a:chExt cx="4416618" cy="431801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5661871-BF5C-2069-2A44-8896D70675C3}"/>
                  </a:ext>
                </a:extLst>
              </p:cNvPr>
              <p:cNvCxnSpPr/>
              <p:nvPr/>
            </p:nvCxnSpPr>
            <p:spPr>
              <a:xfrm>
                <a:off x="21807944" y="16197206"/>
                <a:ext cx="3749042" cy="0"/>
              </a:xfrm>
              <a:prstGeom prst="line">
                <a:avLst/>
              </a:prstGeom>
              <a:noFill/>
              <a:ln w="12700" cap="rnd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  <p:pic>
            <p:nvPicPr>
              <p:cNvPr id="12" name="Picture 11" descr="C:\Users\lenovo\Google Drive\לימודים\מחקר\P600\Figs\All_Verb.tif">
                <a:extLst>
                  <a:ext uri="{FF2B5EF4-FFF2-40B4-BE49-F238E27FC236}">
                    <a16:creationId xmlns:a16="http://schemas.microsoft.com/office/drawing/2014/main" id="{F74FA2D6-B2DD-CD6C-2ED9-C582AED6131A}"/>
                  </a:ext>
                </a:extLst>
              </p:cNvPr>
              <p:cNvPicPr/>
              <p:nvPr/>
            </p:nvPicPr>
            <p:blipFill rotWithShape="1"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090" t="82999" r="52129" b="14508"/>
              <a:stretch/>
            </p:blipFill>
            <p:spPr bwMode="auto">
              <a:xfrm>
                <a:off x="21140368" y="16012985"/>
                <a:ext cx="444501" cy="431801"/>
              </a:xfrm>
              <a:prstGeom prst="rect">
                <a:avLst/>
              </a:prstGeom>
              <a:noFill/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</p:grpSp>
      </p:grpSp>
      <p:pic>
        <p:nvPicPr>
          <p:cNvPr id="13" name="Picture 12" descr="C:\Users\lenovo\Google Drive\לימודים\מחקר\P600\Figs\Diff_All_Verb_2.tif">
            <a:extLst>
              <a:ext uri="{FF2B5EF4-FFF2-40B4-BE49-F238E27FC236}">
                <a16:creationId xmlns:a16="http://schemas.microsoft.com/office/drawing/2014/main" id="{D21A63EB-D343-D7BB-9DFF-4AF56636F475}"/>
              </a:ext>
            </a:extLst>
          </p:cNvPr>
          <p:cNvPicPr/>
          <p:nvPr/>
        </p:nvPicPr>
        <p:blipFill rotWithShape="1"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12" t="16349" r="11819" b="67488"/>
          <a:stretch/>
        </p:blipFill>
        <p:spPr bwMode="auto">
          <a:xfrm>
            <a:off x="3361812" y="4685701"/>
            <a:ext cx="1060263" cy="10683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8BB733-C0AA-6EA2-4598-34A4B1630D66}"/>
              </a:ext>
            </a:extLst>
          </p:cNvPr>
          <p:cNvSpPr txBox="1"/>
          <p:nvPr/>
        </p:nvSpPr>
        <p:spPr>
          <a:xfrm>
            <a:off x="7115385" y="4746492"/>
            <a:ext cx="918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P600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CEB14F5-FA2A-CD98-D9AA-47F0DB06B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752207"/>
              </p:ext>
            </p:extLst>
          </p:nvPr>
        </p:nvGraphicFramePr>
        <p:xfrm>
          <a:off x="482009" y="2848290"/>
          <a:ext cx="11227981" cy="1251840"/>
        </p:xfrm>
        <a:graphic>
          <a:graphicData uri="http://schemas.openxmlformats.org/drawingml/2006/table">
            <a:tbl>
              <a:tblPr firstRow="1" firstCol="1" bandRow="1"/>
              <a:tblGrid>
                <a:gridCol w="1663363">
                  <a:extLst>
                    <a:ext uri="{9D8B030D-6E8A-4147-A177-3AD203B41FA5}">
                      <a16:colId xmlns:a16="http://schemas.microsoft.com/office/drawing/2014/main" val="1724365428"/>
                    </a:ext>
                  </a:extLst>
                </a:gridCol>
                <a:gridCol w="9564618">
                  <a:extLst>
                    <a:ext uri="{9D8B030D-6E8A-4147-A177-3AD203B41FA5}">
                      <a16:colId xmlns:a16="http://schemas.microsoft.com/office/drawing/2014/main" val="989398550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1440070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288014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432021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576028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720035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864042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008049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152056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l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Constraint</a:t>
                      </a:r>
                      <a:endParaRPr lang="en-US" sz="24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1751" marR="61751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marL="0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1440070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288014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432021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576028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720035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864042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008049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152056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2880141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Sentence</a:t>
                      </a: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(translated from Hebrew)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751" marR="61751" marT="0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215486"/>
                  </a:ext>
                </a:extLst>
              </a:tr>
              <a:tr h="731520">
                <a:tc>
                  <a:txBody>
                    <a:bodyPr/>
                    <a:lstStyle>
                      <a:lvl1pPr marL="0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1440070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288014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432021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576028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7200351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864042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008049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1520562" algn="l" defTabSz="2880141" rtl="0" eaLnBrk="1" latinLnBrk="0" hangingPunct="1">
                        <a:defRPr sz="567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33CC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r>
                        <a:rPr lang="en-US" sz="2400" b="0" dirty="0">
                          <a:solidFill>
                            <a:srgbClr val="0033CC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marL="0" marR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1751" marR="61751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1440070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2880141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4320211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5760281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7200351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8640422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0080492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1520562" algn="l" defTabSz="2880141" rtl="0" eaLnBrk="1" latinLnBrk="0" hangingPunct="1">
                        <a:defRPr sz="567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2880141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‘In the library, the librarian helped Dan </a:t>
                      </a:r>
                      <a:r>
                        <a:rPr lang="en-US" sz="2400" b="1" u="sng" kern="1200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find 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 book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he needed’</a:t>
                      </a: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‘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Ofir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had searched for hours, but he couldn’t </a:t>
                      </a:r>
                      <a:r>
                        <a:rPr lang="en-US" sz="2400" b="1" u="sng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find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 book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he needed’</a:t>
                      </a:r>
                    </a:p>
                  </a:txBody>
                  <a:tcPr marL="61751" marR="61751" marT="0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283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890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3B328-5278-DEAA-AC37-5E766A1B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4B52-A61C-86EA-F8B5-55963CC7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P600 at the verb </a:t>
            </a:r>
            <a:endParaRPr lang="en-IL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D747B01-B5BB-0E59-9D56-FE95606692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9769" y="1567722"/>
            <a:ext cx="11491341" cy="25436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0B4088B-CDB7-9ABA-07A7-A470ED29CF72}"/>
                  </a:ext>
                </a:extLst>
              </p14:cNvPr>
              <p14:cNvContentPartPr/>
              <p14:nvPr/>
            </p14:nvContentPartPr>
            <p14:xfrm>
              <a:off x="5617633" y="2071884"/>
              <a:ext cx="303480" cy="42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0B4088B-CDB7-9ABA-07A7-A470ED29CF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63697" y="1963884"/>
                <a:ext cx="410992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FA4D73F-331B-C29B-403C-2EDDACCF9F59}"/>
                  </a:ext>
                </a:extLst>
              </p14:cNvPr>
              <p14:cNvContentPartPr/>
              <p14:nvPr/>
            </p14:nvContentPartPr>
            <p14:xfrm>
              <a:off x="5699759" y="2255280"/>
              <a:ext cx="35568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FA4D73F-331B-C29B-403C-2EDDACCF9F5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45704" y="2147280"/>
                <a:ext cx="463429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D386205-FD5B-028F-8E71-4C79D4A58EC2}"/>
                  </a:ext>
                </a:extLst>
              </p14:cNvPr>
              <p14:cNvContentPartPr/>
              <p14:nvPr/>
            </p14:nvContentPartPr>
            <p14:xfrm>
              <a:off x="4490880" y="2447791"/>
              <a:ext cx="212400" cy="11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D386205-FD5B-028F-8E71-4C79D4A58E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36880" y="2339791"/>
                <a:ext cx="3200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0CE7B4B-0E87-0526-F347-EB9BD38A424C}"/>
                  </a:ext>
                </a:extLst>
              </p14:cNvPr>
              <p14:cNvContentPartPr/>
              <p14:nvPr/>
            </p14:nvContentPartPr>
            <p14:xfrm flipV="1">
              <a:off x="4312480" y="2663694"/>
              <a:ext cx="1006200" cy="20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0CE7B4B-0E87-0526-F347-EB9BD38A424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flipV="1">
                <a:off x="4258480" y="2557556"/>
                <a:ext cx="1113840" cy="232442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B3DB9E0-3434-82E5-5DF7-4CEA7F8A0730}"/>
              </a:ext>
            </a:extLst>
          </p:cNvPr>
          <p:cNvSpPr txBox="1"/>
          <p:nvPr/>
        </p:nvSpPr>
        <p:spPr>
          <a:xfrm>
            <a:off x="539246" y="4378609"/>
            <a:ext cx="9558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Hypothesis to be tested: The higher the constraint of the sentence, the larger the P600</a:t>
            </a:r>
          </a:p>
        </p:txBody>
      </p:sp>
    </p:spTree>
    <p:extLst>
      <p:ext uri="{BB962C8B-B14F-4D97-AF65-F5344CB8AC3E}">
        <p14:creationId xmlns:p14="http://schemas.microsoft.com/office/powerpoint/2010/main" val="4174655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73046-EAD9-F8F0-52BF-054AD255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46158-996C-0243-9824-D9FC62316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P600 at the verb </a:t>
            </a:r>
            <a:endParaRPr lang="en-IL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7059DBA-0136-4EB3-7508-CF9ACDFEF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9769" y="1567722"/>
            <a:ext cx="11491341" cy="25436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3A67B0-CFD1-88D4-9D2B-474CCF6BFF7F}"/>
                  </a:ext>
                </a:extLst>
              </p14:cNvPr>
              <p14:cNvContentPartPr/>
              <p14:nvPr/>
            </p14:nvContentPartPr>
            <p14:xfrm>
              <a:off x="5617633" y="2071884"/>
              <a:ext cx="303480" cy="42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3A67B0-CFD1-88D4-9D2B-474CCF6BFF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63697" y="1963884"/>
                <a:ext cx="410992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4842B74-5518-086B-8589-53A53BEB76B1}"/>
                  </a:ext>
                </a:extLst>
              </p14:cNvPr>
              <p14:cNvContentPartPr/>
              <p14:nvPr/>
            </p14:nvContentPartPr>
            <p14:xfrm>
              <a:off x="5699759" y="2255280"/>
              <a:ext cx="35568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4842B74-5518-086B-8589-53A53BEB76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45704" y="2147280"/>
                <a:ext cx="463429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8FC6736-0F57-B631-C38C-EDA8F647CED5}"/>
                  </a:ext>
                </a:extLst>
              </p14:cNvPr>
              <p14:cNvContentPartPr/>
              <p14:nvPr/>
            </p14:nvContentPartPr>
            <p14:xfrm>
              <a:off x="4490880" y="2447791"/>
              <a:ext cx="212400" cy="11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8FC6736-0F57-B631-C38C-EDA8F647CE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36880" y="2339791"/>
                <a:ext cx="3200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DE11942-B593-2644-26DA-63F6DD40BCE4}"/>
                  </a:ext>
                </a:extLst>
              </p14:cNvPr>
              <p14:cNvContentPartPr/>
              <p14:nvPr/>
            </p14:nvContentPartPr>
            <p14:xfrm flipV="1">
              <a:off x="4312480" y="2663694"/>
              <a:ext cx="1006200" cy="20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DE11942-B593-2644-26DA-63F6DD40BCE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flipV="1">
                <a:off x="4258480" y="2557556"/>
                <a:ext cx="1113840" cy="232442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DF8FE56-6E0B-F2A3-700C-EF3DE5FFC54A}"/>
              </a:ext>
            </a:extLst>
          </p:cNvPr>
          <p:cNvSpPr txBox="1"/>
          <p:nvPr/>
        </p:nvSpPr>
        <p:spPr>
          <a:xfrm>
            <a:off x="539246" y="4378609"/>
            <a:ext cx="95588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/>
          </a:p>
          <a:p>
            <a:r>
              <a:rPr lang="en-US" sz="2000" dirty="0"/>
              <a:t>Problems/questions: </a:t>
            </a:r>
          </a:p>
          <a:p>
            <a:r>
              <a:rPr lang="en-US" sz="2000" dirty="0"/>
              <a:t>- Which constraint to use? The article or the noun constraint? </a:t>
            </a:r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31157143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C7EEA-2640-C2A6-87D5-CE3D39F9A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169AC-9A30-0498-ADE4-67EC6AA4D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P600 at the verb </a:t>
            </a:r>
            <a:endParaRPr lang="en-IL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E67AAEA-6CAB-84CD-4728-2CC98D69F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9769" y="1567722"/>
            <a:ext cx="11491341" cy="25436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F386F0E-2219-6D79-A0F6-5F6E74CE2F94}"/>
                  </a:ext>
                </a:extLst>
              </p14:cNvPr>
              <p14:cNvContentPartPr/>
              <p14:nvPr/>
            </p14:nvContentPartPr>
            <p14:xfrm>
              <a:off x="5617633" y="2071884"/>
              <a:ext cx="303480" cy="42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F386F0E-2219-6D79-A0F6-5F6E74CE2F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63697" y="1963884"/>
                <a:ext cx="410992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8027115-C345-F1F2-4FC6-1A8828D37922}"/>
                  </a:ext>
                </a:extLst>
              </p14:cNvPr>
              <p14:cNvContentPartPr/>
              <p14:nvPr/>
            </p14:nvContentPartPr>
            <p14:xfrm>
              <a:off x="5699759" y="2255280"/>
              <a:ext cx="35568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8027115-C345-F1F2-4FC6-1A8828D3792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45704" y="2147280"/>
                <a:ext cx="463429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A9C5358-C5FB-59C0-A21C-9222454F5B95}"/>
                  </a:ext>
                </a:extLst>
              </p14:cNvPr>
              <p14:cNvContentPartPr/>
              <p14:nvPr/>
            </p14:nvContentPartPr>
            <p14:xfrm>
              <a:off x="4490880" y="2447791"/>
              <a:ext cx="212400" cy="11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A9C5358-C5FB-59C0-A21C-9222454F5B9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36880" y="2339791"/>
                <a:ext cx="3200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2E4C7DB-34B0-DB47-0B33-A2E1071483B8}"/>
                  </a:ext>
                </a:extLst>
              </p14:cNvPr>
              <p14:cNvContentPartPr/>
              <p14:nvPr/>
            </p14:nvContentPartPr>
            <p14:xfrm flipV="1">
              <a:off x="4312480" y="2663694"/>
              <a:ext cx="1006200" cy="20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2E4C7DB-34B0-DB47-0B33-A2E1071483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flipV="1">
                <a:off x="4258480" y="2557556"/>
                <a:ext cx="1113840" cy="232442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DCB0F50-7590-48FB-0F24-9B5AAAEE7C38}"/>
              </a:ext>
            </a:extLst>
          </p:cNvPr>
          <p:cNvSpPr txBox="1"/>
          <p:nvPr/>
        </p:nvSpPr>
        <p:spPr>
          <a:xfrm>
            <a:off x="539246" y="4378609"/>
            <a:ext cx="1059442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Problems/questions: 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Which constraint to use? The article or the noun constraint? </a:t>
            </a:r>
          </a:p>
          <a:p>
            <a:pPr marL="800100" lvl="1" indent="-342900">
              <a:buFontTx/>
              <a:buChar char="-"/>
            </a:pPr>
            <a:r>
              <a:rPr lang="en-US" sz="2000" dirty="0"/>
              <a:t>Noun constraint (constraint varies from a 100 to 23, not </a:t>
            </a:r>
            <a:r>
              <a:rPr lang="en-US" sz="2000" dirty="0" err="1"/>
              <a:t>homogenesouly</a:t>
            </a:r>
            <a:r>
              <a:rPr lang="en-US" sz="2000" dirty="0"/>
              <a:t>)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Time window for P600 is 500-900 </a:t>
            </a:r>
            <a:r>
              <a:rPr lang="en-US" sz="2000" dirty="0" err="1"/>
              <a:t>ms</a:t>
            </a:r>
            <a:r>
              <a:rPr lang="en-US" sz="2000" dirty="0"/>
              <a:t> after onset of word – already on next word </a:t>
            </a:r>
          </a:p>
          <a:p>
            <a:pPr marL="800100" lvl="1" indent="-342900">
              <a:buFontTx/>
              <a:buChar char="-"/>
            </a:pPr>
            <a:r>
              <a:rPr lang="en-US" sz="2000" dirty="0"/>
              <a:t>Use segments which includes next word (article)</a:t>
            </a:r>
          </a:p>
          <a:p>
            <a:pPr marL="800100" lvl="1" indent="-342900">
              <a:buFontTx/>
              <a:buChar char="-"/>
            </a:pPr>
            <a:r>
              <a:rPr lang="en-US" sz="2000" dirty="0"/>
              <a:t>Use only trials with expected ending so that we do not have effect of inhibition/reanalysis/surprise </a:t>
            </a:r>
          </a:p>
          <a:p>
            <a:pPr marL="342900" indent="-342900">
              <a:buFontTx/>
              <a:buChar char="-"/>
            </a:pPr>
            <a:endParaRPr lang="en-IL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37F948-21E8-E8AD-4BD8-488117946F37}"/>
              </a:ext>
            </a:extLst>
          </p:cNvPr>
          <p:cNvSpPr/>
          <p:nvPr/>
        </p:nvSpPr>
        <p:spPr>
          <a:xfrm>
            <a:off x="9635067" y="1921933"/>
            <a:ext cx="524933" cy="2336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39985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FD075-C10B-8566-8BA5-2E8B4439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60E86-038D-68BE-C44A-36B553DF2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Read:</a:t>
            </a:r>
          </a:p>
          <a:p>
            <a:pPr lvl="1"/>
            <a:r>
              <a:rPr lang="en-US" dirty="0"/>
              <a:t>Kutas et al. (2005)</a:t>
            </a:r>
          </a:p>
          <a:p>
            <a:pPr lvl="1"/>
            <a:r>
              <a:rPr lang="en-US" dirty="0" err="1"/>
              <a:t>Nieuwland</a:t>
            </a:r>
            <a:r>
              <a:rPr lang="en-US" dirty="0"/>
              <a:t> et al. (2018)</a:t>
            </a:r>
          </a:p>
          <a:p>
            <a:pPr lvl="1"/>
            <a:r>
              <a:rPr lang="en-US" dirty="0"/>
              <a:t>Ness &amp; Meltzer-Asscher (2018)</a:t>
            </a:r>
          </a:p>
          <a:p>
            <a:pPr lvl="1"/>
            <a:endParaRPr lang="en-US" dirty="0"/>
          </a:p>
          <a:p>
            <a:r>
              <a:rPr lang="en-US" dirty="0"/>
              <a:t>Get relevant segments:</a:t>
            </a:r>
          </a:p>
          <a:p>
            <a:pPr lvl="1"/>
            <a:r>
              <a:rPr lang="en-US" dirty="0"/>
              <a:t>Only sentences with expected endings </a:t>
            </a:r>
          </a:p>
          <a:p>
            <a:pPr lvl="1"/>
            <a:r>
              <a:rPr lang="en-US" dirty="0"/>
              <a:t>Verb segments: </a:t>
            </a:r>
          </a:p>
          <a:p>
            <a:pPr lvl="2"/>
            <a:r>
              <a:rPr lang="en-US" dirty="0"/>
              <a:t>The verb begins 500 </a:t>
            </a:r>
            <a:r>
              <a:rPr lang="en-US" dirty="0" err="1"/>
              <a:t>ms</a:t>
            </a:r>
            <a:r>
              <a:rPr lang="en-US" dirty="0"/>
              <a:t> before onset of article </a:t>
            </a:r>
          </a:p>
          <a:p>
            <a:pPr lvl="2"/>
            <a:r>
              <a:rPr lang="en-US" dirty="0"/>
              <a:t>Need segments that begin 500 </a:t>
            </a:r>
            <a:r>
              <a:rPr lang="en-US" dirty="0" err="1"/>
              <a:t>ms</a:t>
            </a:r>
            <a:r>
              <a:rPr lang="en-US" dirty="0"/>
              <a:t> </a:t>
            </a:r>
            <a:r>
              <a:rPr lang="en-US" b="1" dirty="0"/>
              <a:t>before this</a:t>
            </a:r>
            <a:r>
              <a:rPr lang="en-US" dirty="0"/>
              <a:t> and end 1000 </a:t>
            </a:r>
            <a:r>
              <a:rPr lang="en-US" dirty="0" err="1"/>
              <a:t>ms</a:t>
            </a:r>
            <a:r>
              <a:rPr lang="en-US" dirty="0"/>
              <a:t> after this </a:t>
            </a:r>
          </a:p>
          <a:p>
            <a:pPr lvl="2"/>
            <a:r>
              <a:rPr lang="en-US" dirty="0"/>
              <a:t>The pre-stimulus period is for baseline correction</a:t>
            </a:r>
          </a:p>
          <a:p>
            <a:pPr lvl="2"/>
            <a:r>
              <a:rPr lang="en-US" dirty="0"/>
              <a:t>I don’t think stimuli is already segmented for this – need to segment it from raw data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8620FCA-746E-EC7E-AF7D-64FE6AC17587}"/>
              </a:ext>
            </a:extLst>
          </p:cNvPr>
          <p:cNvGrpSpPr/>
          <p:nvPr/>
        </p:nvGrpSpPr>
        <p:grpSpPr>
          <a:xfrm>
            <a:off x="9431866" y="3833846"/>
            <a:ext cx="1845733" cy="1161487"/>
            <a:chOff x="20650035" y="14881732"/>
            <a:chExt cx="5001024" cy="2694319"/>
          </a:xfrm>
        </p:grpSpPr>
        <p:pic>
          <p:nvPicPr>
            <p:cNvPr id="5" name="Picture 4" descr="C:\Users\lenovo\Google Drive\לימודים\מחקר\P600\Figs\All_Verb.tif">
              <a:extLst>
                <a:ext uri="{FF2B5EF4-FFF2-40B4-BE49-F238E27FC236}">
                  <a16:creationId xmlns:a16="http://schemas.microsoft.com/office/drawing/2014/main" id="{F9D95134-7ADB-B012-8B49-1FA8245E15D8}"/>
                </a:ext>
              </a:extLst>
            </p:cNvPr>
            <p:cNvPicPr/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985" t="70542" r="39979" b="13901"/>
            <a:stretch/>
          </p:blipFill>
          <p:spPr bwMode="auto">
            <a:xfrm>
              <a:off x="20650035" y="14881732"/>
              <a:ext cx="5001024" cy="2694319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1017389-4ED5-A5AB-C8E1-A4668C78F4E1}"/>
                </a:ext>
              </a:extLst>
            </p:cNvPr>
            <p:cNvGrpSpPr/>
            <p:nvPr/>
          </p:nvGrpSpPr>
          <p:grpSpPr>
            <a:xfrm>
              <a:off x="21140368" y="16012986"/>
              <a:ext cx="4416619" cy="431800"/>
              <a:chOff x="21140368" y="16012985"/>
              <a:chExt cx="4416618" cy="431801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302BEDE0-8FAB-D51C-DD09-72586F631CAA}"/>
                  </a:ext>
                </a:extLst>
              </p:cNvPr>
              <p:cNvCxnSpPr/>
              <p:nvPr/>
            </p:nvCxnSpPr>
            <p:spPr>
              <a:xfrm>
                <a:off x="21807944" y="16197206"/>
                <a:ext cx="3749042" cy="0"/>
              </a:xfrm>
              <a:prstGeom prst="line">
                <a:avLst/>
              </a:prstGeom>
              <a:noFill/>
              <a:ln w="12700" cap="rnd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  <p:pic>
            <p:nvPicPr>
              <p:cNvPr id="8" name="Picture 7" descr="C:\Users\lenovo\Google Drive\לימודים\מחקר\P600\Figs\All_Verb.tif">
                <a:extLst>
                  <a:ext uri="{FF2B5EF4-FFF2-40B4-BE49-F238E27FC236}">
                    <a16:creationId xmlns:a16="http://schemas.microsoft.com/office/drawing/2014/main" id="{7E9D6932-298D-CD69-3D85-8592D0CE6294}"/>
                  </a:ext>
                </a:extLst>
              </p:cNvPr>
              <p:cNvPicPr/>
              <p:nvPr/>
            </p:nvPicPr>
            <p:blipFill rotWithShape="1"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090" t="82999" r="52129" b="14508"/>
              <a:stretch/>
            </p:blipFill>
            <p:spPr bwMode="auto">
              <a:xfrm>
                <a:off x="21140368" y="16012985"/>
                <a:ext cx="444501" cy="431801"/>
              </a:xfrm>
              <a:prstGeom prst="rect">
                <a:avLst/>
              </a:prstGeom>
              <a:noFill/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6741060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931E3-2329-FDAD-3CE8-137D1C52B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43288-CA4C-E61D-DBA8-73E1202E7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preprocessing and analyses:</a:t>
            </a:r>
          </a:p>
          <a:p>
            <a:endParaRPr lang="en-US" dirty="0"/>
          </a:p>
          <a:p>
            <a:pPr lvl="1"/>
            <a:r>
              <a:rPr lang="en-US" dirty="0"/>
              <a:t>Follow pre-processing stages as in </a:t>
            </a:r>
            <a:r>
              <a:rPr lang="en-US" dirty="0" err="1"/>
              <a:t>Nieuwland</a:t>
            </a:r>
            <a:r>
              <a:rPr lang="en-US" dirty="0"/>
              <a:t> et al. (code in OSF?)</a:t>
            </a:r>
          </a:p>
          <a:p>
            <a:pPr lvl="1"/>
            <a:r>
              <a:rPr lang="en-US" dirty="0"/>
              <a:t>Follow analyses (linear model and correlation) as in </a:t>
            </a:r>
            <a:r>
              <a:rPr lang="en-US" dirty="0" err="1"/>
              <a:t>Nieuwland</a:t>
            </a:r>
            <a:r>
              <a:rPr lang="en-US" dirty="0"/>
              <a:t> et al., but for P600 instead of N400:</a:t>
            </a:r>
          </a:p>
          <a:p>
            <a:pPr lvl="2"/>
            <a:r>
              <a:rPr lang="en-US" dirty="0"/>
              <a:t>Time window 500-900 (instead of 300-500 or whatever they did). </a:t>
            </a:r>
          </a:p>
          <a:p>
            <a:pPr lvl="2"/>
            <a:r>
              <a:rPr lang="en-US" dirty="0"/>
              <a:t>Look at central and parietal electrodes (electrodes starting with C, CP, P) – not sure what electrodes </a:t>
            </a:r>
            <a:r>
              <a:rPr lang="en-US"/>
              <a:t>they looked at.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101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1409</Words>
  <Application>Microsoft Office PowerPoint</Application>
  <PresentationFormat>Widescreen</PresentationFormat>
  <Paragraphs>199</Paragraphs>
  <Slides>41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Aptos</vt:lpstr>
      <vt:lpstr>Arial</vt:lpstr>
      <vt:lpstr>Calibri</vt:lpstr>
      <vt:lpstr>Wingdings</vt:lpstr>
      <vt:lpstr>Office Theme</vt:lpstr>
      <vt:lpstr>Cloze probability and sentence constraint</vt:lpstr>
      <vt:lpstr>Cloze probability and sentence constraint</vt:lpstr>
      <vt:lpstr>עדויות התנהגותיות לחיזוי/אינטגרציה </vt:lpstr>
      <vt:lpstr>Electroencephalogram - EEG </vt:lpstr>
      <vt:lpstr>מקור הסיגנל החשמלי </vt:lpstr>
      <vt:lpstr>EEG ומצבי עוררות</vt:lpstr>
      <vt:lpstr>מ-EEG  ל-ERP- event-related potentials </vt:lpstr>
      <vt:lpstr>רכיבי (קומפוננטות) ERP</vt:lpstr>
      <vt:lpstr>The N400: Kutas &amp; Hillyard (1980)  </vt:lpstr>
      <vt:lpstr>The N400: Kutas &amp; Hillyard (1984)  </vt:lpstr>
      <vt:lpstr>The N400: Ness &amp; Meltzer-Asscher (2018)</vt:lpstr>
      <vt:lpstr>Evidence for prediction: Altmann &amp; Kamide (1999), visual world eyetracking </vt:lpstr>
      <vt:lpstr>Evidence for prediction: Federmeier &amp; Kutas (1999)</vt:lpstr>
      <vt:lpstr>Evidence for prediction: Federmeier &amp; Kutas (1999)</vt:lpstr>
      <vt:lpstr>The current experiment </vt:lpstr>
      <vt:lpstr>The current experiment </vt:lpstr>
      <vt:lpstr>The current experiment </vt:lpstr>
      <vt:lpstr>Predictions </vt:lpstr>
      <vt:lpstr>Methods: Materials </vt:lpstr>
      <vt:lpstr>Methods: Materials  </vt:lpstr>
      <vt:lpstr>Methods: Participants </vt:lpstr>
      <vt:lpstr>Methods: Procedure </vt:lpstr>
      <vt:lpstr>Methods: Analysis </vt:lpstr>
      <vt:lpstr>Results: Nouns  </vt:lpstr>
      <vt:lpstr>Results: Nouns  </vt:lpstr>
      <vt:lpstr>Results: Articles  </vt:lpstr>
      <vt:lpstr>Results: Articles  </vt:lpstr>
      <vt:lpstr>Nieuwland et al. (2018)</vt:lpstr>
      <vt:lpstr>Materials </vt:lpstr>
      <vt:lpstr>Materials </vt:lpstr>
      <vt:lpstr>Participants and procedure  </vt:lpstr>
      <vt:lpstr>Results for N400</vt:lpstr>
      <vt:lpstr>This research only looked at the N400, on articles and nouns</vt:lpstr>
      <vt:lpstr>But there are additional things to look at</vt:lpstr>
      <vt:lpstr>P600 at the verb </vt:lpstr>
      <vt:lpstr>P600 at the verb</vt:lpstr>
      <vt:lpstr>P600 at the verb </vt:lpstr>
      <vt:lpstr>P600 at the verb </vt:lpstr>
      <vt:lpstr>P600 at the verb </vt:lpstr>
      <vt:lpstr>To do </vt:lpstr>
      <vt:lpstr>To 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 Meltzer-Asscher</dc:creator>
  <cp:lastModifiedBy>Aya Meltzer-Asscher</cp:lastModifiedBy>
  <cp:revision>9</cp:revision>
  <dcterms:created xsi:type="dcterms:W3CDTF">2026-04-13T09:48:27Z</dcterms:created>
  <dcterms:modified xsi:type="dcterms:W3CDTF">2026-04-15T15:16:14Z</dcterms:modified>
</cp:coreProperties>
</file>